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savings (illustrative)</c:v>
                </c:pt>
              </c:strCache>
            </c:strRef>
          </c:tx>
          <c:spPr>
            <a:solidFill>
              <a:srgbClr val="B06A4F"/>
            </a:solidFill>
            <a:ln w="38100" cap="flat">
              <a:solidFill>
                <a:srgbClr val="B0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6A4F"/>
              </a:solidFill>
              <a:ln w="9525" cap="flat">
                <a:solidFill>
                  <a:srgbClr val="B0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Now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6.6</c:v>
                </c:pt>
                <c:pt idx="2">
                  <c:v>9.7</c:v>
                </c:pt>
                <c:pt idx="3">
                  <c:v>13.4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today's money (real)</c:v>
                </c:pt>
              </c:strCache>
            </c:strRef>
          </c:tx>
          <c:spPr>
            <a:solidFill>
              <a:srgbClr val="2F6F6A"/>
            </a:solidFill>
            <a:ln w="38100" cap="flat">
              <a:solidFill>
                <a:srgbClr val="2F6F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6A"/>
              </a:solidFill>
              <a:ln w="9525" cap="flat">
                <a:solidFill>
                  <a:srgbClr val="2F6F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Now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6.2</c:v>
                </c:pt>
                <c:pt idx="2">
                  <c:v>8.6</c:v>
                </c:pt>
                <c:pt idx="3">
                  <c:v>11.2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7DCC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B342E"/>
              </a:solidFill>
              <a:prstDash val="solid"/>
              <a:round/>
            </a:ln>
          </c:spPr>
        </c:majorGridlines>
        <c:numFmt formatCode="&quot;₹&quot;0.0&quot;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7DCC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B272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6F0E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2B272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PocketCare investor brief cover. Tagline: your money, fully in hand — even offline. Replace [DATE] and confirm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structural gaps: online-only, single-currency, no forward planning, weak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Track, Plan, Project — the three pillars. Offline-first and private underpins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of the product across tracking, planning, growth, and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Moat = architecture: offline-first, zero-trust privacy, deterministic projections, multi-currency.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Cashflow is the flagship differentiator. Chart is illustrative engine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TAM/SAM/SOM placeholders with sourced figures. Emphasize the multi-currency + privacy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real (from code). Add unit economics placeholders: ARPU, conversion, CAC/LTV.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Milestones are real and verifiable in the repo. Metrics are placeholders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only PocketCare combines offline-first + multi-currency + planning/projection + splits +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grounded in the repo's phased plan. 'Now' items are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funding ask, terms, use of funds, and team. Close with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B06A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D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53312" y="658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PocketCare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money, fully in hand —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offline.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offline-first, multi-currency expense &amp; wealth manager — tracking, planning, and AI projections in one private, cross-device app.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local 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52120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+ FX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52120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0100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encryption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94015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Confidential —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 tools break exactly where life happens.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50008"/>
            <a:ext cx="566928" cy="566928"/>
          </a:xfrm>
          <a:prstGeom prst="ellipse">
            <a:avLst/>
          </a:prstGeom>
          <a:solidFill>
            <a:srgbClr val="A850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0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Online-only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7432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Bank-linking apps stall with no signal, in transit, or across borders — the moments you most need to log a spend.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350008"/>
            <a:ext cx="566928" cy="566928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50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Single-currency bias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27432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Expats, freelancers, and travelers juggle multiple currencies; most apps assume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15968"/>
            <a:ext cx="566928" cy="566928"/>
          </a:xfrm>
          <a:prstGeom prst="ellipse">
            <a:avLst/>
          </a:prstGeom>
          <a:solidFill>
            <a:srgbClr val="2F6F6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view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709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show the past. Almost none project income vs. spending, inflation, and savings years ahead.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15968"/>
            <a:ext cx="566928" cy="5669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an afterthought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4709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 sell insight into your financial life; sensitive data sits readable on servers.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private hub for tracking, planning, and projecting your money.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43200"/>
            <a:ext cx="731520" cy="7315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Multi-account, multi-currency ledger. Balances derived from an append-only ledger — accurate by construction.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743200"/>
            <a:ext cx="731520" cy="7315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Cashflow hub unifies recurring income, payments, subscriptions, loans, and savings.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743200"/>
            <a:ext cx="731520" cy="7315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inflation-aware AI engine forecasts your 1/2/3-year financial structure.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· syncs across devices · installable PWA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money OS — not another expense tracker.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Ledger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account types, ledger-derived balances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130552"/>
            <a:ext cx="566928" cy="566928"/>
          </a:xfrm>
          <a:prstGeom prst="ellipse">
            <a:avLst/>
          </a:prstGeom>
          <a:solidFill>
            <a:srgbClr val="2F6F6A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income/expense/transfer, breakdown, on-device auto-categorise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2130552"/>
            <a:ext cx="566928" cy="566928"/>
          </a:xfrm>
          <a:prstGeom prst="ellipse">
            <a:avLst/>
          </a:prstGeom>
          <a:solidFill>
            <a:srgbClr val="5F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Goals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budgets, emergency-fund-first goals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18745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25712" y="2130552"/>
            <a:ext cx="566928" cy="566928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12571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Cashflow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982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incomes, payments, savings + AI projections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279392"/>
            <a:ext cx="566928" cy="5669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4956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trips, settle-up, shared ledger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39312" y="4279392"/>
            <a:ext cx="566928" cy="566928"/>
          </a:xfrm>
          <a:prstGeom prst="ellipse">
            <a:avLst/>
          </a:prstGeom>
          <a:solidFill>
            <a:srgbClr val="2F6F6A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11880" y="4956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118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+ daily market data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4279392"/>
            <a:ext cx="566928" cy="566928"/>
          </a:xfrm>
          <a:prstGeom prst="ellipse">
            <a:avLst/>
          </a:prstGeom>
          <a:solidFill>
            <a:srgbClr val="8F533C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55080" y="4956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PocketCare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3550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assistant, visual &amp; actionable answers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6968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25712" y="4279392"/>
            <a:ext cx="566928" cy="566928"/>
          </a:xfrm>
          <a:prstGeom prst="ellipse">
            <a:avLst/>
          </a:prstGeom>
          <a:solidFill>
            <a:srgbClr val="5F7A52"/>
          </a:solidFill>
          <a:ln/>
        </p:spPr>
      </p:sp>
      <p:sp>
        <p:nvSpPr>
          <p:cNvPr id="41" name="Text 39"/>
          <p:cNvSpPr/>
          <p:nvPr/>
        </p:nvSpPr>
        <p:spPr>
          <a:xfrm>
            <a:off x="9125712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98280" y="4956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 Insights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0982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export, 15+ insight charts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architecture, not just a feature list.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548640" cy="54864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025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200253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PowerSync + local SQLite: instant, works with zero signal, reconciles server-authoritatively. Hard to retrofit; we built on it from day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108960"/>
            <a:ext cx="548640" cy="54864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0540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privacy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5409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encryption of sensitive fields — the server holds ciphertext + wrapped keys, never plaintext. Auto-categorisation runs on-device.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160520"/>
            <a:ext cx="548640" cy="54864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105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projection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10565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unit-tested finance core (compounding, inflation, recurring math) powering goal ETAs and 1/2/3-year cashflow forecasts — no black box.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5212080"/>
            <a:ext cx="548640" cy="54864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1572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multi-currency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515721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currency, display-time FX, base-currency net worth — for expats, freelancers, and cross-border life.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· PLANNED CASHFLOW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 the question every tracker ignores: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will I stand in 3 years?”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7980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income, subscriptions, loan EMIs, household costs, and savings in one hub.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9410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reduced to monthly-equivalent minor units; totals per month/quarter/year.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B0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736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50840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compounding with inflation + income growth → nominal &amp; real balances.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engine output, not a forecast of returns</a:t>
            </a:r>
            <a:endParaRPr lang="en-US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2606040"/>
          <a:ext cx="5257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global, underserved wedge.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[₹/$ X B]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personal-finance &amp; budgeting software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[₹/$ Y B]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749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/ privacy-conscious users (expats, freelancers, emerging markets)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[₹/$ Z M]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21040" y="3749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obtainable — [region] mobile-first savers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F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Insert sourced market figures &amp; assumptions. Tailwinds: mobile-first savers in emerging markets, gig/creator economy, rising privacy expectations, cross-border work.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Freemium, with recurring subscriptions + AI credit packs.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E7DCCD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21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transactions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basic balances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budget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Cashflow basics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B06A4F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221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D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₹49/mo · ₹499/yr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Multi-budget + alerts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projections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AI prompts / 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2B2723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21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D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2743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₹99/mo · ₹999/yr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2918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Lite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statements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auto-fetch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AI prompts / 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One-time AI credit packs (₹29 / ₹49 / ₹99). Payments via Razorpay. [PLACEHOLDER] ARPU, conversion %, CAC/LTV to be added.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shipped. Now proving the loop.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[X,XXX]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waitlist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retention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[₹ XXk]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Free→paid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insert real 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(verifiable in-repo):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PWA: dashboard, accounts, transactions, cards, budgets, goals, cashflow, investments, splits, insights, statements, assistant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 (PowerSync ↔ Supabase), multi-currency, i18n, dark mode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D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billing (Razorpay), zero-trust encryption, 49+ passing core tests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Trackers, splitters, and budgeters — no one owns the whole picture.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566160" y="18745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57216" y="18745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48272" y="18745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+ projections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39328" y="18745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Bill-splitting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30384" y="18745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0D8C9"/>
          </a:solidFill>
          <a:ln w="12700">
            <a:solidFill>
              <a:srgbClr val="B0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7216" y="25603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8272" y="25603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25603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5603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Mint-style aggregators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2369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7216" y="32369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32369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9328" y="32369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30384" y="32369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91363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YNAB-style budgeters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66160" y="39136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57216" y="39136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48272" y="39136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9328" y="39136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0384" y="39136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59028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590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Splitwise-style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5902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57216" y="45902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48272" y="45902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39328" y="45902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30384" y="45902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" y="526694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2669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66160" y="52669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57216" y="52669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48272" y="52669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39328" y="52669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30384" y="52669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full   ◐ partial   ○ none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0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shipped core to intelligent, connected money.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PWA, offline sync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Cashflow (BETA)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encryption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Bank/statement import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on-device AI categorisation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goal nudges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7DCCD"/>
            </a:solidFill>
            <a:prstDash val="solid"/>
          </a:ln>
          <a:effectLst>
            <a:outerShdw sx="100000" sy="100000" kx="0" ky="0" algn="bl" rotWithShape="0" blurRad="127000" dist="50800" dir="5400000">
              <a:srgbClr val="2B272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+ widgets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household finances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Open-banking (regional)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0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to turn a shipped product into a growing business.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B06A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D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[₹ / $ X.X M]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[SAFE / equity] · [pre-money]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acquisition, 2–3 engineers, open-banking integrations, and 18-month runway.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3B342E"/>
          </a:solidFill>
          <a:ln w="12700">
            <a:solidFill>
              <a:srgbClr val="8F5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 — [role]. [1-line background]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[Co-founder / key hire] — [role]. [background]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6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[Advisor] — [domain]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add 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[email] · [website]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PocketCare · Investor Brief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PocketCare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PocketCare</dc:creator>
  <cp:lastModifiedBy>PocketCare</cp:lastModifiedBy>
  <cp:revision>1</cp:revision>
  <dcterms:created xsi:type="dcterms:W3CDTF">2026-07-16T11:18:14Z</dcterms:created>
  <dcterms:modified xsi:type="dcterms:W3CDTF">2026-07-16T11:18:14Z</dcterms:modified>
</cp:coreProperties>
</file>